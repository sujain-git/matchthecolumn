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3502-F0D1-8A45-5AA9-7E5704132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353C3-EB1D-633E-152D-B63252AB0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6CC4B-7FB8-05CA-68FE-0D9415C75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F1D24-64C4-41D3-EF68-865883FA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0177-913A-1295-726B-2D7738E7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63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A83F0-C5AD-6861-EA9F-6F0317DD6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A184-5382-27A3-54CA-1535E5B9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6179C-C370-6C33-23A3-790BDFF3A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13A21-6D49-C26A-8F58-7DB5738C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FDFD7-40DE-2C94-E574-512661B1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5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72A7D-7AC2-0B19-400D-9EAAAA83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A1EF2-BB15-0067-1DB2-CA9CE59EF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77D56-97A4-C730-A0AB-20A00880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FB35-6FF4-70A9-E22F-BB41FA479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3214B-0BCC-0E9A-DF58-76CB5E9A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66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D31C1-2BAF-5E35-1AC0-7C05905C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BE7AA-73BB-1524-FC37-E43ADDD40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600E3-8D43-01A9-6671-FAA6EB9AE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9700E-9A83-D29B-779F-25F11397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0C2E3-23CC-5D92-74DE-C878BF6B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9F86B-C8E7-3DAF-4723-0D7CFC24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50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5F65-61AE-D0C0-CEF1-15DCA9656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5F58B-C434-A426-98B9-2E0C836CD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44321-7A63-3AA1-ABBC-A71EBC115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C7B1B-1BE9-EE6F-08D3-85CA1CFB7C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1008D-3E52-8D4D-09F6-61FC4FF83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8D5D95-EB90-CF36-3076-9582BBD0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8A6F9-D5C1-7968-1025-0F516160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24F79-E520-F0A2-1089-231153AF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39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B94C7-35DA-5651-FA80-0E32507A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5E384-8FC5-9BAE-463C-84673F1D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6D237-6635-B165-A84A-2C2ED04F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73149-BF7D-74DF-D6F6-99388F25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99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0704ED-75D4-6035-1EFD-FD5A4FB7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D2EF9-EE4B-F02E-3A91-AA935F91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31617-96BD-67B0-BF46-1CB704D7A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26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125E8-BF02-804E-CC7A-9D391CA93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885F2-EAD2-60AE-40BC-880AFA531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26939-2B85-764B-9AB7-B35241B52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E0B56-5AAE-DADB-E5EB-BCE700EE0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DEEE5-6B31-4FA3-E593-D4BA2BE3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BAC70-FF9F-E924-4174-A9D24711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97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3349-504F-0656-AD1C-A9F267E8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EF173-C020-87E9-3AE1-D6F876712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F629D-7240-8756-0281-BFB265FBE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5B456-B361-D95B-4861-B45DD158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5A55A-0B10-C9D3-5237-A977C9EE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44FAF-629E-DB50-9BBC-6446F0B90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7D0F-C0CE-19A7-2B1F-EDC7F7B7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00BC2-5C11-2996-50F0-3DC9F2F33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71E55-2486-3E3C-42BA-BA73BC61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F576-1DE5-8B25-FE29-8C028604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ABFE2-5C06-9546-2EFF-6366C898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4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0D41C-1242-E2C9-F2E7-446E5D445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80012-42B0-F18E-5130-F27467847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B9E50-4719-2E95-C09A-71A6D4574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F2256-9C2F-33D7-C421-BA917120C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1BA75-976C-CD9A-AA58-A3FEB9C9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BE2BD-2D51-298E-F02D-54A87ACD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7C5C3-67EF-6C11-580A-321D5F08A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94DD8-DE07-4947-B22B-22231879A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A42C4-C8F9-4C33-A853-8983551F6403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FDCF3-E01E-A2A5-5FF8-10EE398A4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8759D-67F3-6F73-3BDC-E3BCB7C9F3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898E0-7E6E-4A68-8C85-39E8A84F7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86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F3546556-9D20-C09F-00B6-D258CBD18B57}"/>
              </a:ext>
            </a:extLst>
          </p:cNvPr>
          <p:cNvGrpSpPr/>
          <p:nvPr/>
        </p:nvGrpSpPr>
        <p:grpSpPr>
          <a:xfrm>
            <a:off x="3463908" y="1470591"/>
            <a:ext cx="1819373" cy="2701368"/>
            <a:chOff x="8665981" y="1729231"/>
            <a:chExt cx="1819373" cy="270136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A35FC32-AC8B-46A3-91F4-DFF1867E9219}"/>
                </a:ext>
              </a:extLst>
            </p:cNvPr>
            <p:cNvSpPr/>
            <p:nvPr/>
          </p:nvSpPr>
          <p:spPr>
            <a:xfrm>
              <a:off x="8665981" y="1729231"/>
              <a:ext cx="1819373" cy="270136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589F8C-7068-3CAC-D336-8DFF4533A8FF}"/>
                </a:ext>
              </a:extLst>
            </p:cNvPr>
            <p:cNvSpPr txBox="1"/>
            <p:nvPr/>
          </p:nvSpPr>
          <p:spPr>
            <a:xfrm>
              <a:off x="8785066" y="1925753"/>
              <a:ext cx="160682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Read metadata about measurement </a:t>
              </a:r>
              <a:r>
                <a:rPr lang="en-US" dirty="0" err="1"/>
                <a:t>ip</a:t>
              </a:r>
              <a:r>
                <a:rPr lang="en-US" dirty="0"/>
                <a:t>(LabVIEW, python, Measurement Plugin, …)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0F7BC0-5B32-054A-95C7-4C078E93A425}"/>
              </a:ext>
            </a:extLst>
          </p:cNvPr>
          <p:cNvSpPr/>
          <p:nvPr/>
        </p:nvSpPr>
        <p:spPr>
          <a:xfrm>
            <a:off x="1432874" y="857839"/>
            <a:ext cx="2630079" cy="569379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4A550-3E1E-75FB-789D-EEDE7881FDEE}"/>
              </a:ext>
            </a:extLst>
          </p:cNvPr>
          <p:cNvSpPr txBox="1"/>
          <p:nvPr/>
        </p:nvSpPr>
        <p:spPr>
          <a:xfrm>
            <a:off x="4349629" y="632162"/>
            <a:ext cx="2754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Background Preprocessing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E28573-0FE6-3CDF-1F59-554D10249C87}"/>
              </a:ext>
            </a:extLst>
          </p:cNvPr>
          <p:cNvGrpSpPr/>
          <p:nvPr/>
        </p:nvGrpSpPr>
        <p:grpSpPr>
          <a:xfrm>
            <a:off x="714523" y="1564866"/>
            <a:ext cx="2185152" cy="1943100"/>
            <a:chOff x="1046819" y="1621427"/>
            <a:chExt cx="2185152" cy="19431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F429F9E-C8CB-93EC-E203-FBEC6E8805C3}"/>
                </a:ext>
              </a:extLst>
            </p:cNvPr>
            <p:cNvSpPr/>
            <p:nvPr/>
          </p:nvSpPr>
          <p:spPr>
            <a:xfrm>
              <a:off x="1046819" y="1621427"/>
              <a:ext cx="1973050" cy="19431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CBE28D-64CF-9C4C-D746-5E885843FA2D}"/>
                </a:ext>
              </a:extLst>
            </p:cNvPr>
            <p:cNvSpPr txBox="1"/>
            <p:nvPr/>
          </p:nvSpPr>
          <p:spPr>
            <a:xfrm>
              <a:off x="1158074" y="2131312"/>
              <a:ext cx="207389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User created Repository of measurement </a:t>
              </a:r>
              <a:r>
                <a:rPr lang="en-US" dirty="0" err="1"/>
                <a:t>ip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A6ECC47-104C-4DE2-B9FE-EA5EEAA1D1B3}"/>
              </a:ext>
            </a:extLst>
          </p:cNvPr>
          <p:cNvGrpSpPr/>
          <p:nvPr/>
        </p:nvGrpSpPr>
        <p:grpSpPr>
          <a:xfrm>
            <a:off x="9738232" y="1711572"/>
            <a:ext cx="3478490" cy="1649688"/>
            <a:chOff x="4419383" y="4691962"/>
            <a:chExt cx="3478490" cy="164968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49270A5-D7E0-C7C9-0509-E71C4FC03557}"/>
                </a:ext>
              </a:extLst>
            </p:cNvPr>
            <p:cNvSpPr/>
            <p:nvPr/>
          </p:nvSpPr>
          <p:spPr>
            <a:xfrm>
              <a:off x="4419383" y="4691962"/>
              <a:ext cx="3478490" cy="164968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4110D7F-3A34-22BD-039F-C5F38520C576}"/>
                </a:ext>
              </a:extLst>
            </p:cNvPr>
            <p:cNvSpPr txBox="1"/>
            <p:nvPr/>
          </p:nvSpPr>
          <p:spPr>
            <a:xfrm>
              <a:off x="4674370" y="4722227"/>
              <a:ext cx="224358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push this mapping to MDS/some data store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0A52FE-6750-190E-676A-A62EF1E8B5C5}"/>
              </a:ext>
            </a:extLst>
          </p:cNvPr>
          <p:cNvCxnSpPr/>
          <p:nvPr/>
        </p:nvCxnSpPr>
        <p:spPr>
          <a:xfrm>
            <a:off x="2687573" y="2536416"/>
            <a:ext cx="7739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090130-EC25-EACD-E83A-98F83269F892}"/>
              </a:ext>
            </a:extLst>
          </p:cNvPr>
          <p:cNvCxnSpPr/>
          <p:nvPr/>
        </p:nvCxnSpPr>
        <p:spPr>
          <a:xfrm>
            <a:off x="5283281" y="2648932"/>
            <a:ext cx="5264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43B1907-3713-8AA4-E8CC-1F1A15958908}"/>
              </a:ext>
            </a:extLst>
          </p:cNvPr>
          <p:cNvSpPr/>
          <p:nvPr/>
        </p:nvSpPr>
        <p:spPr>
          <a:xfrm>
            <a:off x="5797409" y="1266659"/>
            <a:ext cx="3045667" cy="420869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dirty="0"/>
              <a:t>Take each piece of metadata(let say they have unique Id).</a:t>
            </a:r>
          </a:p>
          <a:p>
            <a:pPr marL="342900" indent="-342900">
              <a:buAutoNum type="arabicPeriod"/>
            </a:pPr>
            <a:r>
              <a:rPr lang="en-US" dirty="0"/>
              <a:t>Generate n sentences for each Id(can use local language models like BERT)</a:t>
            </a:r>
          </a:p>
          <a:p>
            <a:pPr marL="342900" indent="-342900">
              <a:buAutoNum type="arabicPeriod"/>
            </a:pPr>
            <a:r>
              <a:rPr lang="en-US" dirty="0"/>
              <a:t>For each generated sentence, create embedding</a:t>
            </a:r>
          </a:p>
          <a:p>
            <a:pPr marL="342900" indent="-342900">
              <a:buAutoNum type="arabicPeriod"/>
            </a:pPr>
            <a:r>
              <a:rPr lang="en-US" dirty="0"/>
              <a:t> create a mapping between generated embedding vs Id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3378C5-401D-7D96-F225-EA5B68DD85C9}"/>
              </a:ext>
            </a:extLst>
          </p:cNvPr>
          <p:cNvCxnSpPr/>
          <p:nvPr/>
        </p:nvCxnSpPr>
        <p:spPr>
          <a:xfrm>
            <a:off x="8974316" y="2648932"/>
            <a:ext cx="6693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71F6C77-8DB4-C815-3E79-402DC2626812}"/>
              </a:ext>
            </a:extLst>
          </p:cNvPr>
          <p:cNvSpPr/>
          <p:nvPr/>
        </p:nvSpPr>
        <p:spPr>
          <a:xfrm>
            <a:off x="3461503" y="5071621"/>
            <a:ext cx="1728319" cy="17863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Store metadata in digital thread or MDS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192E217-0A53-C30E-526D-0FA07557A1C0}"/>
              </a:ext>
            </a:extLst>
          </p:cNvPr>
          <p:cNvCxnSpPr/>
          <p:nvPr/>
        </p:nvCxnSpPr>
        <p:spPr>
          <a:xfrm>
            <a:off x="4062953" y="4171959"/>
            <a:ext cx="0" cy="899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2A28F0-6DF0-32BE-828E-CF54CCCCA067}"/>
              </a:ext>
            </a:extLst>
          </p:cNvPr>
          <p:cNvCxnSpPr>
            <a:stCxn id="36" idx="0"/>
            <a:endCxn id="4" idx="2"/>
          </p:cNvCxnSpPr>
          <p:nvPr/>
        </p:nvCxnSpPr>
        <p:spPr>
          <a:xfrm flipV="1">
            <a:off x="4325663" y="4171959"/>
            <a:ext cx="47932" cy="899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19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9AC984-26AB-CB4B-544E-66476A142245}"/>
              </a:ext>
            </a:extLst>
          </p:cNvPr>
          <p:cNvSpPr/>
          <p:nvPr/>
        </p:nvSpPr>
        <p:spPr>
          <a:xfrm>
            <a:off x="459831" y="2204351"/>
            <a:ext cx="2600528" cy="32490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C062A-8919-E0C3-11CD-77D9149A1298}"/>
              </a:ext>
            </a:extLst>
          </p:cNvPr>
          <p:cNvSpPr txBox="1"/>
          <p:nvPr/>
        </p:nvSpPr>
        <p:spPr>
          <a:xfrm>
            <a:off x="459831" y="318880"/>
            <a:ext cx="64397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validation workflow, when user wants to map measurement IP to create a test which satisfies the condition/specification, they would like to search measurement </a:t>
            </a:r>
            <a:r>
              <a:rPr lang="en-US" dirty="0" err="1"/>
              <a:t>ip</a:t>
            </a:r>
            <a:r>
              <a:rPr lang="en-US" dirty="0"/>
              <a:t> by keyword, we can hyper automate the search part by doping some sematic search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0830DB-46CF-B402-E3FC-FDB7F35BDD9A}"/>
              </a:ext>
            </a:extLst>
          </p:cNvPr>
          <p:cNvSpPr/>
          <p:nvPr/>
        </p:nvSpPr>
        <p:spPr>
          <a:xfrm>
            <a:off x="642026" y="2461098"/>
            <a:ext cx="2130357" cy="12840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Specifications/Conditions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3CD074-40C9-EA09-9606-4D23EEF42F5A}"/>
              </a:ext>
            </a:extLst>
          </p:cNvPr>
          <p:cNvSpPr/>
          <p:nvPr/>
        </p:nvSpPr>
        <p:spPr>
          <a:xfrm>
            <a:off x="459831" y="5573949"/>
            <a:ext cx="2130357" cy="12840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typed keyword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98C2BB-78AB-C96C-364B-6FDBA62F21A1}"/>
              </a:ext>
            </a:extLst>
          </p:cNvPr>
          <p:cNvSpPr/>
          <p:nvPr/>
        </p:nvSpPr>
        <p:spPr>
          <a:xfrm>
            <a:off x="716196" y="3957243"/>
            <a:ext cx="2130357" cy="128405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Context like </a:t>
            </a:r>
            <a:r>
              <a:rPr lang="en-US" dirty="0" err="1"/>
              <a:t>DUT,Product</a:t>
            </a:r>
            <a:r>
              <a:rPr lang="en-US" dirty="0"/>
              <a:t>,  measurement name, units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606C2A-B238-D780-054F-97471E16BFEC}"/>
              </a:ext>
            </a:extLst>
          </p:cNvPr>
          <p:cNvSpPr/>
          <p:nvPr/>
        </p:nvSpPr>
        <p:spPr>
          <a:xfrm>
            <a:off x="4058052" y="2081719"/>
            <a:ext cx="5192952" cy="47762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A8C0BD-6BDC-5CAE-275A-487683FE8DB8}"/>
              </a:ext>
            </a:extLst>
          </p:cNvPr>
          <p:cNvCxnSpPr>
            <a:cxnSpLocks/>
          </p:cNvCxnSpPr>
          <p:nvPr/>
        </p:nvCxnSpPr>
        <p:spPr>
          <a:xfrm>
            <a:off x="3073941" y="3004890"/>
            <a:ext cx="942355" cy="560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5D4611-E357-BC36-35C6-A9C0A28383D4}"/>
              </a:ext>
            </a:extLst>
          </p:cNvPr>
          <p:cNvCxnSpPr>
            <a:cxnSpLocks/>
          </p:cNvCxnSpPr>
          <p:nvPr/>
        </p:nvCxnSpPr>
        <p:spPr>
          <a:xfrm flipV="1">
            <a:off x="2606401" y="4857051"/>
            <a:ext cx="1409895" cy="1145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127FAE1-556B-961D-5CEB-381381B489BD}"/>
              </a:ext>
            </a:extLst>
          </p:cNvPr>
          <p:cNvCxnSpPr>
            <a:cxnSpLocks/>
          </p:cNvCxnSpPr>
          <p:nvPr/>
        </p:nvCxnSpPr>
        <p:spPr>
          <a:xfrm flipV="1">
            <a:off x="3073130" y="4188753"/>
            <a:ext cx="943166" cy="97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A97C5A-B4BC-1924-2AB9-1CB93706AA4B}"/>
              </a:ext>
            </a:extLst>
          </p:cNvPr>
          <p:cNvSpPr txBox="1"/>
          <p:nvPr/>
        </p:nvSpPr>
        <p:spPr>
          <a:xfrm>
            <a:off x="4041839" y="2545617"/>
            <a:ext cx="48881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Semantic Matcher service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Combine all the context along with the user given keyword and create a sentence using local language models</a:t>
            </a:r>
          </a:p>
          <a:p>
            <a:pPr marL="342900" indent="-342900">
              <a:buAutoNum type="arabicPeriod"/>
            </a:pPr>
            <a:r>
              <a:rPr lang="en-US" dirty="0"/>
              <a:t>Create embedding for such sentence </a:t>
            </a:r>
          </a:p>
          <a:p>
            <a:pPr marL="342900" indent="-342900">
              <a:buAutoNum type="arabicPeriod" startAt="3"/>
            </a:pPr>
            <a:r>
              <a:rPr lang="en-US" dirty="0"/>
              <a:t>Given this embedding , find closest matching embedding from a list of pre-processed embeddings</a:t>
            </a:r>
          </a:p>
          <a:p>
            <a:pPr marL="342900" indent="-342900">
              <a:buAutoNum type="arabicPeriod" startAt="3"/>
            </a:pPr>
            <a:r>
              <a:rPr lang="en-US" dirty="0"/>
              <a:t>Output a ranked list of best matches, since embedding was mapped to a measurement metadata Id, we can return back the best matching measurement </a:t>
            </a:r>
            <a:r>
              <a:rPr lang="en-US" dirty="0" err="1"/>
              <a:t>ips</a:t>
            </a:r>
            <a:endParaRPr lang="en-US" dirty="0"/>
          </a:p>
          <a:p>
            <a:pPr marL="342900" indent="-342900">
              <a:buAutoNum type="arabicPeriod" startAt="3"/>
            </a:pP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117DB1-1851-7CB4-6AA3-9B3A4ACCD32D}"/>
              </a:ext>
            </a:extLst>
          </p:cNvPr>
          <p:cNvSpPr/>
          <p:nvPr/>
        </p:nvSpPr>
        <p:spPr>
          <a:xfrm>
            <a:off x="9854120" y="2461098"/>
            <a:ext cx="1780162" cy="2208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DataStore</a:t>
            </a:r>
            <a:r>
              <a:rPr lang="en-US" dirty="0"/>
              <a:t> with</a:t>
            </a:r>
          </a:p>
          <a:p>
            <a:pPr algn="ctr"/>
            <a:r>
              <a:rPr lang="en-US" dirty="0"/>
              <a:t>embeddings and mappings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8B20FB-5BDB-2616-FD88-2F1907049DA4}"/>
              </a:ext>
            </a:extLst>
          </p:cNvPr>
          <p:cNvCxnSpPr/>
          <p:nvPr/>
        </p:nvCxnSpPr>
        <p:spPr>
          <a:xfrm flipH="1">
            <a:off x="9251004" y="3900791"/>
            <a:ext cx="6031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265E9EF-C1B5-72D7-1CF1-BBEC5F027E56}"/>
              </a:ext>
            </a:extLst>
          </p:cNvPr>
          <p:cNvSpPr txBox="1"/>
          <p:nvPr/>
        </p:nvSpPr>
        <p:spPr>
          <a:xfrm>
            <a:off x="459831" y="1835019"/>
            <a:ext cx="1573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Digital Thread</a:t>
            </a:r>
          </a:p>
        </p:txBody>
      </p:sp>
    </p:spTree>
    <p:extLst>
      <p:ext uri="{BB962C8B-B14F-4D97-AF65-F5344CB8AC3E}">
        <p14:creationId xmlns:p14="http://schemas.microsoft.com/office/powerpoint/2010/main" val="402772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218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Jain, Sumit</dc:creator>
  <cp:lastModifiedBy>Jain, Sumit</cp:lastModifiedBy>
  <cp:revision>3</cp:revision>
  <dcterms:created xsi:type="dcterms:W3CDTF">2025-07-15T06:00:40Z</dcterms:created>
  <dcterms:modified xsi:type="dcterms:W3CDTF">2025-07-15T07:00:21Z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2025-07-15T06:26:40Z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2ea9ed43-f023-4701-8d99-7b5c1242d175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